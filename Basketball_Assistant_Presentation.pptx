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3" r:id="rId10"/>
    <p:sldId id="264" r:id="rId11"/>
    <p:sldId id="266" r:id="rId12"/>
    <p:sldId id="265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71600" y="2560320"/>
            <a:ext cx="941832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Basketball Multi-Agent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0B0B0"/>
                </a:solidFill>
                <a:latin typeface="Calibri"/>
              </a:defRPr>
            </a:pPr>
            <a:r>
              <a:t>A Multi-Agent RAG System for Basketball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5029200"/>
            <a:ext cx="941832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rPr dirty="0"/>
              <a:t>4 basketball leagues (NBA, FIBA, FIBA 3x3, NCAA), each with its own rulebook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rPr dirty="0"/>
              <a:t>Over </a:t>
            </a:r>
            <a:r>
              <a:rPr lang="en-US" dirty="0"/>
              <a:t>500</a:t>
            </a:r>
            <a:r>
              <a:rPr dirty="0"/>
              <a:t> pages of dense legal-style rule documentation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rPr dirty="0"/>
              <a:t>Rules differ across leagues in subtle but critical ways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rPr dirty="0"/>
              <a:t>Coaches, referees, and analysts need fast, accurate answers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rPr dirty="0"/>
              <a:t>Existing tools: </a:t>
            </a:r>
            <a:r>
              <a:rPr dirty="0" err="1"/>
              <a:t>Ctrl+F</a:t>
            </a:r>
            <a:r>
              <a:rPr dirty="0"/>
              <a:t> on a 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B0"/>
                </a:solidFill>
                <a:latin typeface="Calibri"/>
              </a:defRPr>
            </a:pPr>
            <a:r>
              <a:t>Goal: Build a system that understands, retrieves, and reasons over basketball rules across all four leagues, while also handling live stats and computational queries.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Coaches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463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B0"/>
                </a:solidFill>
                <a:latin typeface="Calibri"/>
              </a:defRPr>
            </a:pPr>
            <a:r>
              <a:t>Quick rule clarifications during game prep and live situations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Referees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103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B0"/>
                </a:solidFill>
                <a:latin typeface="Calibri"/>
              </a:defRPr>
            </a:pPr>
            <a:r>
              <a:t>Verify calls and understand edge cases across leagues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Analysts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743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B0"/>
                </a:solidFill>
                <a:latin typeface="Calibri"/>
              </a:defRPr>
            </a:pPr>
            <a:r>
              <a:t>Cross-league rule comparisons for broadcasts and articles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Students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383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B0"/>
                </a:solidFill>
                <a:latin typeface="Calibri"/>
              </a:defRPr>
            </a:pPr>
            <a:r>
              <a:t>Learning basketball officiating and rule 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23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Fans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023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B0"/>
                </a:solidFill>
                <a:latin typeface="Calibri"/>
              </a:defRPr>
            </a:pPr>
            <a:r>
              <a:t>Settling debates about specific plays and rule scenarios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754880" y="1463040"/>
            <a:ext cx="2743200" cy="548640"/>
          </a:xfrm>
          <a:prstGeom prst="roundRect">
            <a:avLst/>
          </a:prstGeom>
          <a:solidFill>
            <a:srgbClr val="2D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Frontend (Nginx)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2560320"/>
            <a:ext cx="2743200" cy="548640"/>
          </a:xfrm>
          <a:prstGeom prst="roundRect">
            <a:avLst/>
          </a:prstGeom>
          <a:solidFill>
            <a:srgbClr val="098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System A (FastAPI)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3657600"/>
            <a:ext cx="2743200" cy="5486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Supervisor (LangGraph)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937760"/>
            <a:ext cx="2194560" cy="5486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RAG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4937760"/>
            <a:ext cx="2194560" cy="548640"/>
          </a:xfrm>
          <a:prstGeom prst="roundRect">
            <a:avLst/>
          </a:prstGeom>
          <a:solidFill>
            <a:srgbClr val="E17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Web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937760"/>
            <a:ext cx="2377440" cy="548640"/>
          </a:xfrm>
          <a:prstGeom prst="roundRect">
            <a:avLst/>
          </a:prstGeom>
          <a:solidFill>
            <a:srgbClr val="D63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MCP Suspension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4937760"/>
            <a:ext cx="2560320" cy="548640"/>
          </a:xfrm>
          <a:prstGeom prst="roundRect">
            <a:avLst/>
          </a:prstGeom>
          <a:solidFill>
            <a:srgbClr val="D63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MCP Performance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6035040"/>
            <a:ext cx="2194560" cy="548640"/>
          </a:xfrm>
          <a:prstGeom prst="roundRect">
            <a:avLst/>
          </a:prstGeom>
          <a:solidFill>
            <a:srgbClr val="00C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Qdrant (Vectors)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6035040"/>
            <a:ext cx="2194560" cy="54864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System B (ADK)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6035040"/>
            <a:ext cx="2377440" cy="548640"/>
          </a:xfrm>
          <a:prstGeom prst="roundRect">
            <a:avLst/>
          </a:prstGeom>
          <a:solidFill>
            <a:srgbClr val="00C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MongoDB (Chat)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60320"/>
            <a:ext cx="32004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r>
              <a:rPr dirty="0"/>
              <a:t>7 Docker containers</a:t>
            </a:r>
            <a:br>
              <a:rPr dirty="0"/>
            </a:br>
            <a:r>
              <a:rPr dirty="0" err="1"/>
              <a:t>LangGraph</a:t>
            </a:r>
            <a:r>
              <a:rPr dirty="0"/>
              <a:t> orchestration</a:t>
            </a:r>
            <a:br>
              <a:rPr dirty="0"/>
            </a:br>
            <a:r>
              <a:rPr dirty="0"/>
              <a:t>Multi-step routing</a:t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371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LangGraph (state-machine agent routing)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105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810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Qwen 2.5 72B via OpenRouter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Vision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24942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Qwen 2.5 VL 72B (diagram captioning)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8833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68833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rPr dirty="0"/>
              <a:t>all-mpnet-base-v2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2724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Vector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1272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Qdrant (hybrid dense + sparse 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Reranking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566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B0B0B0"/>
                </a:solidFill>
                <a:latin typeface="Calibri"/>
              </a:defRPr>
            </a:pPr>
            <a:r>
              <a:rPr lang="en-US" sz="1700" dirty="0"/>
              <a:t>BAAI/bge-reranker-v2-m3.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097280" y="400507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Web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005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rPr lang="en-US" dirty="0"/>
              <a:t>Google search via Goggle ADK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1097280" y="4443983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Agent Framework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443983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Google ADK (real-time stats)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88289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MCP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88289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FastAPI microservices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32180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53218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HTML/CSS/JS + Nginx + SSE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760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79436"/>
                </a:solidFill>
                <a:latin typeface="Calibri"/>
              </a:defRPr>
            </a:pPr>
            <a:r>
              <a:t>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760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MongoDB (chat history)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RAG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1.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46304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PDF parsing with PyMuPDF, markdown-aware chunking,</a:t>
            </a:r>
            <a:br/>
            <a:r>
              <a:t>diagram extraction and VLM captioning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2. Embedding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46888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all-mpnet-base-v2 dense vectors +</a:t>
            </a:r>
            <a:br/>
            <a:r>
              <a:t>BM25 sparse vectors stored in Qdrant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3. Retrieval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Hybrid search (dense + sparse) with</a:t>
            </a:r>
            <a:br/>
            <a:r>
              <a:t>cross-encoder reranking, top-5 chunks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4.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48056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Qwen 2.5 72B generates answer with</a:t>
            </a:r>
            <a:br/>
            <a:r>
              <a:t>source citations from retrieved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9DC4"/>
                </a:solidFill>
                <a:latin typeface="Calibri"/>
              </a:defRPr>
            </a:pPr>
            <a:r>
              <a:t>Supports multilingual queries (EN, FR, ES) with automatic language detection and translation.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Multi-Agent Routing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79436"/>
                </a:solidFill>
                <a:latin typeface="Calibri"/>
              </a:defRPr>
            </a:pPr>
            <a:r>
              <a:t>Rules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463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Supervisor -&gt; RAG Agent -&gt;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463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r>
              <a:t>"What is a clear path foul in the NBA?"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79436"/>
                </a:solidFill>
                <a:latin typeface="Calibri"/>
              </a:defRPr>
            </a:pPr>
            <a:r>
              <a:t>Live stats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48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Supervisor -&gt; Web Agent -&gt;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1488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r>
              <a:t>"Who leads the NBA in scoring?"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79436"/>
                </a:solidFill>
                <a:latin typeface="Calibri"/>
              </a:defRPr>
            </a:pPr>
            <a:r>
              <a:t>Suspension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834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Supervisor -&gt; Web -&gt; MCP Suspension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8346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r>
              <a:t>"Is Doncic at risk of suspension?"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20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79436"/>
                </a:solidFill>
                <a:latin typeface="Calibri"/>
              </a:defRPr>
            </a:pPr>
            <a:r>
              <a:t>Performance grade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520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Supervisor -&gt; Web -&gt; MCP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520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r>
              <a:t>"Grade LeBron's last game"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79436"/>
                </a:solidFill>
                <a:latin typeface="Calibri"/>
              </a:defRPr>
            </a:pPr>
            <a:r>
              <a:t>Missing league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206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Supervisor -&gt; Human Input -&gt; Clarify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2062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r>
              <a:t>"What is an unsportsmanlike foul?"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B0"/>
                </a:solidFill>
                <a:latin typeface="Calibri"/>
              </a:defRPr>
            </a:pPr>
            <a:r>
              <a:t>The supervisor uses LLM-based reasoning to analyze each query and determine</a:t>
            </a:r>
            <a:br/>
            <a:r>
              <a:t>the optimal routing plan, including multi-step chaining (e.g., web search then MCP tool).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2862" y="1642585"/>
            <a:ext cx="1005840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rPr sz="2800" dirty="0"/>
              <a:t>Chat-based interface at localhost:3000</a:t>
            </a:r>
            <a:endParaRPr lang="en-US" sz="2800" dirty="0"/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endParaRPr sz="2800" dirty="0"/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rPr sz="2800" dirty="0"/>
              <a:t>League selection with automatic detection from query</a:t>
            </a:r>
            <a:endParaRPr lang="en-US" sz="2800" dirty="0"/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endParaRPr sz="2800" dirty="0"/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rPr lang="en-US" sz="2800" dirty="0"/>
              <a:t>Can return images </a:t>
            </a:r>
            <a:r>
              <a:rPr lang="en-US" sz="2800"/>
              <a:t>and diagrams</a:t>
            </a:r>
            <a:endParaRPr lang="en-US" sz="2800" dirty="0"/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endParaRPr sz="2800" dirty="0"/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rPr sz="2800" dirty="0"/>
              <a:t>Conversation history persisted in MongoDB</a:t>
            </a:r>
            <a:endParaRPr lang="en-US" sz="2800" dirty="0"/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endParaRPr sz="2800" dirty="0"/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rPr sz="2800" dirty="0"/>
              <a:t>Responsive design, dark theme</a:t>
            </a:r>
            <a:endParaRPr lang="en-US" sz="2800" dirty="0"/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endParaRPr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MCP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Suspension Probability Calculator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Input: player name, current tech fouls, games played, league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Uses Poisson distribution to project suspension probability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Supports NBA, FIBA, NCAA, FIBA 3x3 thresholds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NBA: 16th technical = 1-game suspension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Returns risk level, projected game, and probability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Performance Grade Calculator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743200"/>
            <a:ext cx="4846320" cy="1990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rPr dirty="0"/>
              <a:t>Input: player stats (points, rebounds, assists, etc.)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rPr dirty="0"/>
              <a:t>Calculates weighted performance score (0-100)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rPr dirty="0"/>
              <a:t>Accounts for efficiency, impact, and scoring volume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rPr dirty="0"/>
              <a:t>Returns letter grade (A+ through F)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rPr dirty="0"/>
              <a:t>Compares against league average benchmark</a:t>
            </a:r>
            <a:endParaRPr lang="en-US" dirty="0"/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rPr lang="en-US" sz="1500" dirty="0"/>
              <a:t>John Hollinger formula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B0"/>
                </a:solidFill>
                <a:latin typeface="Calibri"/>
              </a:defRPr>
            </a:pPr>
            <a:r>
              <a:rPr dirty="0"/>
              <a:t>Both tools are standalone </a:t>
            </a:r>
            <a:r>
              <a:rPr dirty="0" err="1"/>
              <a:t>FastAPI</a:t>
            </a:r>
            <a:r>
              <a:rPr dirty="0"/>
              <a:t> services with /health endpoints and Docker containers.</a:t>
            </a:r>
            <a:br>
              <a:rPr dirty="0"/>
            </a:br>
            <a:r>
              <a:rPr dirty="0"/>
              <a:t>They follow the MCP pattern: stateless, deterministic, independently deployable.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System B -- Live Data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B0"/>
                </a:solidFill>
                <a:latin typeface="Calibri"/>
              </a:defRPr>
            </a:pPr>
            <a:r>
              <a:t>A separate agent on a different tech stack, demonstrating multi-system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484632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Fetches live game results and box scores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Retrieves current season standings and stats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Searches for recent player news and trades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Provides real-time data that rulebooks cannot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743200"/>
            <a:ext cx="484632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Google ADK (Agent Development Kit)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Gemini </a:t>
            </a:r>
            <a:r>
              <a:rPr lang="en-US" dirty="0"/>
              <a:t>3.6</a:t>
            </a:r>
            <a:r>
              <a:rPr dirty="0"/>
              <a:t> Flash as the reasoning model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/>
              <a:t>Google Search as the built-in tool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rPr dirty="0" err="1"/>
              <a:t>FastAPI</a:t>
            </a:r>
            <a:r>
              <a:rPr dirty="0"/>
              <a:t> wrapper for REST communication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79436"/>
                </a:solidFill>
                <a:latin typeface="Calibri"/>
              </a:defRPr>
            </a:pPr>
            <a:r>
              <a:t>Communication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03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System A calls System B over HTTP within the Docker network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The supervisor routes live-data queries to Web Agent, which calls System B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Results can be chained into MCP tools (e.g., fetch stats then grade performance)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610278"/>
            <a:ext cx="518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sz="2800" dirty="0"/>
              <a:t>Hybrid + </a:t>
            </a:r>
            <a:r>
              <a:rPr sz="2800" dirty="0" err="1"/>
              <a:t>Rerank</a:t>
            </a:r>
            <a:r>
              <a:rPr sz="2800" dirty="0"/>
              <a:t> over Dense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99" y="2678307"/>
            <a:ext cx="56928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sz="2800" dirty="0"/>
              <a:t>MPNET over BGE-M3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87877"/>
            <a:ext cx="64696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sz="2800" dirty="0"/>
              <a:t>Markdown chunking over Recursive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97448"/>
            <a:ext cx="59288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sz="2800" dirty="0"/>
              <a:t>Multi-agent over Monolithic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9DC4"/>
                </a:solidFill>
                <a:latin typeface="Calibri"/>
              </a:defRPr>
            </a:pPr>
            <a:r>
              <a:t>Evaluation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79436"/>
                </a:solidFill>
                <a:latin typeface="Calibri"/>
              </a:defRPr>
            </a:pPr>
            <a:r>
              <a:rPr dirty="0"/>
              <a:t>Retrieval </a:t>
            </a:r>
            <a:r>
              <a:rPr lang="en-US" dirty="0"/>
              <a:t>–</a:t>
            </a:r>
            <a:r>
              <a:rPr dirty="0"/>
              <a:t> </a:t>
            </a:r>
            <a:r>
              <a:rPr lang="en-US" dirty="0"/>
              <a:t>3 Test sets benchmarked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65933" y="1805203"/>
            <a:ext cx="4066622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r>
              <a:rPr sz="2000" dirty="0" err="1"/>
              <a:t>markdown_mpnet</a:t>
            </a:r>
            <a:r>
              <a:rPr sz="2000" dirty="0"/>
              <a:t> + </a:t>
            </a:r>
            <a:r>
              <a:rPr sz="2000" dirty="0" err="1"/>
              <a:t>hybrid_rerank</a:t>
            </a:r>
            <a:endParaRPr lang="en-US" sz="2000" dirty="0"/>
          </a:p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r>
              <a:rPr lang="en-US" sz="2000" dirty="0"/>
              <a:t>&amp;</a:t>
            </a:r>
            <a:br>
              <a:rPr lang="en-US" sz="2000" dirty="0"/>
            </a:br>
            <a:r>
              <a:rPr lang="en-US" sz="2000" dirty="0" err="1"/>
              <a:t>markdown_bge</a:t>
            </a:r>
            <a:r>
              <a:rPr lang="en-US" sz="2000" dirty="0"/>
              <a:t> + </a:t>
            </a:r>
            <a:r>
              <a:rPr lang="en-US" sz="2000" dirty="0" err="1"/>
              <a:t>hybrid_rerank</a:t>
            </a:r>
            <a:br>
              <a:rPr lang="en-US" sz="2000" dirty="0"/>
            </a:br>
            <a:endParaRPr lang="en-US" sz="2000" dirty="0"/>
          </a:p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r>
              <a:rPr lang="en-US" sz="2000" dirty="0"/>
              <a:t>Very close results final decision was made on Ragas benchmarking</a:t>
            </a:r>
          </a:p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endParaRPr lang="en-US" dirty="0"/>
          </a:p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endParaRPr lang="en-US" dirty="0"/>
          </a:p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endParaRPr lang="en-US" dirty="0"/>
          </a:p>
          <a:p>
            <a:pPr algn="l">
              <a:defRPr sz="1400" b="0">
                <a:solidFill>
                  <a:srgbClr val="B0B0B0"/>
                </a:solidFill>
                <a:latin typeface="Calibri"/>
              </a:defRPr>
            </a:pP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73152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79436"/>
                </a:solidFill>
                <a:latin typeface="Calibri"/>
              </a:defRPr>
            </a:pPr>
            <a:r>
              <a:rPr dirty="0"/>
              <a:t>Generation -- RAGAS (Full Mode)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Faithfulness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0.829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Answer Relevancy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754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0.692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120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Answer Correctness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5120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0.513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486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Context Precision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486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0.682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852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B0"/>
                </a:solidFill>
                <a:latin typeface="Calibri"/>
              </a:defRPr>
            </a:pPr>
            <a:r>
              <a:t>Context Recall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5852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0.811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79436"/>
                </a:solidFill>
                <a:latin typeface="Calibri"/>
              </a:defRPr>
            </a:pPr>
            <a:r>
              <a:t>Routing Accuracy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011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Agent Selection:  8/8 (100%)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League Detection:  8/8 (100%)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79436"/>
                </a:solidFill>
                <a:latin typeface="Calibri"/>
              </a:defRPr>
            </a:pPr>
            <a:r>
              <a:t>Configs Benchmarked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749039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B0"/>
                </a:solidFill>
                <a:latin typeface="Calibri"/>
              </a:defRPr>
            </a:pPr>
            <a:r>
              <a:t>16 retrieval configurations</a:t>
            </a:r>
            <a:br/>
            <a:r>
              <a:t>(4 collections x 4 pipelines)</a:t>
            </a:r>
            <a:br/>
            <a:br/>
            <a:r>
              <a:t>2 embedding models</a:t>
            </a:r>
            <a:br/>
            <a:r>
              <a:t>(mpnet vs bge-m3)</a:t>
            </a:r>
            <a:br/>
            <a:br/>
            <a:r>
              <a:t>2 chunking strategies</a:t>
            </a:r>
            <a:br/>
            <a:r>
              <a:t>(markdown vs recursive)</a:t>
            </a:r>
            <a:br/>
            <a:br/>
            <a:r>
              <a:t>2 routing modes</a:t>
            </a:r>
            <a:br/>
            <a:r>
              <a:t>(rag-only vs full)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0" y="2560320"/>
            <a:ext cx="667512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0" y="2743200"/>
            <a:ext cx="6675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0B0B0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5029200"/>
            <a:ext cx="6675120" cy="45720"/>
          </a:xfrm>
          <a:prstGeom prst="rect">
            <a:avLst/>
          </a:prstGeom>
          <a:solidFill>
            <a:srgbClr val="0F9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875</Words>
  <Application>Microsoft Office PowerPoint</Application>
  <PresentationFormat>Widescreen</PresentationFormat>
  <Paragraphs>153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Andre Cham (El)</cp:lastModifiedBy>
  <cp:revision>5</cp:revision>
  <dcterms:created xsi:type="dcterms:W3CDTF">2013-01-27T09:14:16Z</dcterms:created>
  <dcterms:modified xsi:type="dcterms:W3CDTF">2026-08-21T19:28:47Z</dcterms:modified>
  <cp:category/>
</cp:coreProperties>
</file>
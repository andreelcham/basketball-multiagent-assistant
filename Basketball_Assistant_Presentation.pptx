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560320"/>
            <a:ext cx="941832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Basketball Multi-Agent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B0"/>
                </a:solidFill>
                <a:latin typeface="Calibri"/>
              </a:defRPr>
            </a:pPr>
            <a:r>
              <a:t>A Multi-Agent RAG System for Basketball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941832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 basketball leagues (NBA, FIBA, FIBA 3x3, NCAA), each with its own rulebook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Over 1,000 pages of dense legal-style rule documentation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Rules differ across leagues in subtle but critical ways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Coaches, referees, and analysts need fast, accurate answers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Existing tools: Ctrl+F on a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Goal: Build a system that understands, retrieves, and reasons over basketball rules across all four leagues, while also handling live stats and computational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Coaches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Quick rule clarifications during game prep and live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Referees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Verify calls and understand edge cases across leagues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Analysts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Cross-league rule comparisons for broadcasts and articles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Learning basketball officiating and rule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Fans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Settling debates about specific plays and rule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0" y="1463040"/>
            <a:ext cx="2743200" cy="54864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 (Nginx)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560320"/>
            <a:ext cx="2743200" cy="54864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A (FastAPI)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657600"/>
            <a:ext cx="274320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Supervisor (LangGraph)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2194560" cy="5486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RAG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937760"/>
            <a:ext cx="2194560" cy="548640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937760"/>
            <a:ext cx="2377440" cy="548640"/>
          </a:xfrm>
          <a:prstGeom prst="round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MCP Suspension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937760"/>
            <a:ext cx="2560320" cy="548640"/>
          </a:xfrm>
          <a:prstGeom prst="round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MCP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6035040"/>
            <a:ext cx="2194560" cy="54864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Qdrant (Vectors)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6035040"/>
            <a:ext cx="219456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B (ADK)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6035040"/>
            <a:ext cx="2377440" cy="54864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MongoDB (Chat)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56032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rPr dirty="0"/>
              <a:t>7 Docker containers</a:t>
            </a:r>
            <a:br>
              <a:rPr dirty="0"/>
            </a:br>
            <a:r>
              <a:rPr dirty="0" err="1"/>
              <a:t>LangGraph</a:t>
            </a:r>
            <a:r>
              <a:rPr dirty="0"/>
              <a:t> orchestration</a:t>
            </a:r>
            <a:br>
              <a:rPr dirty="0"/>
            </a:br>
            <a:r>
              <a:rPr dirty="0"/>
              <a:t>Multi-step routing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LangGraph (state-machine agent routing)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10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Qwen 2.5 72B via OpenRouter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Vision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494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Qwen 2.5 VL 72B (diagram captioning)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883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883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rPr dirty="0"/>
              <a:t>all-mpnet-base-v2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1272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Qdrant (hybrid dense + sparse 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Reranking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cross-encoder/ms-marco-MiniLM-L-6-v2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05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Web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005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rPr lang="en-US" dirty="0"/>
              <a:t>Google search via Goggle ADK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097280" y="444398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Agent Framework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443983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Google ADK (real-time stats)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828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8828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FastAPI microservices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21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321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HTML/CSS/JS + Nginx + 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436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MongoDB (chat history)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1.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PDF parsing with PyMuPDF, markdown-aware chunking,</a:t>
            </a:r>
            <a:br/>
            <a:r>
              <a:t>diagram extraction and VLM captioning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2.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all-mpnet-base-v2 dense vectors +</a:t>
            </a:r>
            <a:br/>
            <a:r>
              <a:t>BM25 sparse vectors stored in Qdrant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3.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Hybrid search (dense + sparse) with</a:t>
            </a:r>
            <a:br/>
            <a:r>
              <a:t>cross-encoder reranking, top-5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4.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805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Qwen 2.5 72B generates answer with</a:t>
            </a:r>
            <a:br/>
            <a:r>
              <a:t>source citations from retrieved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9DC4"/>
                </a:solidFill>
                <a:latin typeface="Calibri"/>
              </a:defRPr>
            </a:pPr>
            <a:r>
              <a:t>Supports multilingual queries (EN, FR, ES) with automatic language detection and translation.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Multi-Agent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9436"/>
                </a:solidFill>
                <a:latin typeface="Calibri"/>
              </a:defRPr>
            </a:pPr>
            <a:r>
              <a:t>Rules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Supervisor -&gt; RAG Agent -&gt;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"What is a clear path foul in the NBA?"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9436"/>
                </a:solidFill>
                <a:latin typeface="Calibri"/>
              </a:defRPr>
            </a:pPr>
            <a:r>
              <a:t>Live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Supervisor -&gt; Web Agent -&gt;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48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"Who leads the NBA in scoring?"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9436"/>
                </a:solidFill>
                <a:latin typeface="Calibri"/>
              </a:defRPr>
            </a:pPr>
            <a:r>
              <a:t>Suspension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Supervisor -&gt; Web -&gt; MCP Suspension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34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"Is Doncic at risk of suspension?"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9436"/>
                </a:solidFill>
                <a:latin typeface="Calibri"/>
              </a:defRPr>
            </a:pPr>
            <a:r>
              <a:t>Performance 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Supervisor -&gt; Web -&gt; MCP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52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"Grade LeBron's last game"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9436"/>
                </a:solidFill>
                <a:latin typeface="Calibri"/>
              </a:defRPr>
            </a:pPr>
            <a:r>
              <a:t>Missing league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Supervisor -&gt; Human Input -&gt; Clarify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06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"What is an unsportsmanlike foul?"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Calibri"/>
              </a:defRPr>
            </a:pPr>
            <a:r>
              <a:t>The supervisor uses LLM-based reasoning to analyze each query and determine</a:t>
            </a:r>
            <a:br/>
            <a:r>
              <a:t>the optimal routing plan, including multi-step chaining (e.g., web search then MCP tool).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2862" y="1642585"/>
            <a:ext cx="10058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Chat-based interface at localhost:3000</a:t>
            </a:r>
            <a:endParaRPr lang="en-US"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endParaRPr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League selection with automatic detection from query</a:t>
            </a:r>
            <a:endParaRPr lang="en-US"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endParaRPr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2800" dirty="0"/>
              <a:t>Can return images </a:t>
            </a:r>
            <a:r>
              <a:rPr lang="en-US" sz="2800"/>
              <a:t>and diagrams</a:t>
            </a:r>
            <a:endParaRPr lang="en-US"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endParaRPr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Conversation history persisted in MongoDB</a:t>
            </a:r>
            <a:endParaRPr lang="en-US"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endParaRPr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Responsive design, dark theme</a:t>
            </a:r>
            <a:endParaRPr lang="en-US" sz="2800"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Suspension Probability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Input: player name, current tech fouls, games played, league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Uses Poisson distribution to project suspension probability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Supports NBA, FIBA, NCAA, FIBA 3x3 thresholds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NBA: 16th technical = 1-game suspension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Returns risk level, projected game, and probability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Performance Grade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Input: player stats (points, rebounds, assists, etc.)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Calculates weighted performance score (0-100)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Accounts for efficiency, impact, and scoring volume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Returns letter grade (A+ through F)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Compares against league average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Calibri"/>
              </a:defRPr>
            </a:pPr>
            <a:r>
              <a:rPr dirty="0"/>
              <a:t>Both tools are standalone </a:t>
            </a:r>
            <a:r>
              <a:rPr dirty="0" err="1"/>
              <a:t>FastAPI</a:t>
            </a:r>
            <a:r>
              <a:rPr dirty="0"/>
              <a:t> services with /health endpoints and Docker containers.</a:t>
            </a:r>
            <a:br>
              <a:rPr dirty="0"/>
            </a:br>
            <a:r>
              <a:rPr dirty="0"/>
              <a:t>They follow the MCP pattern: stateless, deterministic, independently deployable.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System B -- Live Data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t>A separate agent on a different tech stack, demonstrating multi-system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846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Fetches live game results and box scores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Retrieves current season standings and stats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Searches for recent player news and trades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Provides real-time data that rulebooks cannot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4846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Google ADK (Agent Development Kit)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Gemini </a:t>
            </a:r>
            <a:r>
              <a:rPr lang="en-US" dirty="0"/>
              <a:t>3.6</a:t>
            </a:r>
            <a:r>
              <a:rPr dirty="0"/>
              <a:t> Flash as the reasoning model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Google Search as the built-in tool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wrapper for REST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9436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System A calls System B over HTTP within the Docker network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supervisor routes live-data queries to Web Agent, which calls System 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Results can be chained into MCP tools (e.g., fetch stats then grade performance)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10278"/>
            <a:ext cx="518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Hybrid + </a:t>
            </a:r>
            <a:r>
              <a:rPr sz="2800" dirty="0" err="1"/>
              <a:t>Rerank</a:t>
            </a:r>
            <a:r>
              <a:rPr sz="2800" dirty="0"/>
              <a:t> over Dense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2678307"/>
            <a:ext cx="5692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MPNET over BGE-M3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87877"/>
            <a:ext cx="6469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Markdown chunking over Recursive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7448"/>
            <a:ext cx="5928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Multi-agent over Monolithic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9DC4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9436"/>
                </a:solidFill>
                <a:latin typeface="Calibri"/>
              </a:defRPr>
            </a:pPr>
            <a:r>
              <a:rPr dirty="0"/>
              <a:t>Retrieval 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en-US" dirty="0"/>
              <a:t>3 Test sets benchmarked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65933" y="1805203"/>
            <a:ext cx="406662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rPr sz="2000" dirty="0" err="1"/>
              <a:t>markdown_mpnet</a:t>
            </a:r>
            <a:r>
              <a:rPr sz="2000" dirty="0"/>
              <a:t> + </a:t>
            </a:r>
            <a:r>
              <a:rPr sz="2000" dirty="0" err="1"/>
              <a:t>hybrid_rerank</a:t>
            </a:r>
            <a:endParaRPr lang="en-US" sz="2000" dirty="0"/>
          </a:p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rPr lang="en-US" sz="2000" dirty="0"/>
              <a:t>&amp;</a:t>
            </a:r>
            <a:br>
              <a:rPr lang="en-US" sz="2000" dirty="0"/>
            </a:br>
            <a:r>
              <a:rPr lang="en-US" sz="2000" dirty="0" err="1"/>
              <a:t>markdown_bge</a:t>
            </a:r>
            <a:r>
              <a:rPr lang="en-US" sz="2000" dirty="0"/>
              <a:t> + </a:t>
            </a:r>
            <a:r>
              <a:rPr lang="en-US" sz="2000" dirty="0" err="1"/>
              <a:t>hybrid_rerank</a:t>
            </a:r>
            <a:br>
              <a:rPr lang="en-US" sz="2000" dirty="0"/>
            </a:br>
            <a:endParaRPr lang="en-US" sz="2000" dirty="0"/>
          </a:p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rPr lang="en-US" sz="2000" dirty="0"/>
              <a:t>Very close results final decision was made on Ragas benchmarking</a:t>
            </a:r>
          </a:p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endParaRPr lang="en-US" dirty="0"/>
          </a:p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endParaRPr lang="en-US" dirty="0"/>
          </a:p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endParaRPr lang="en-US" dirty="0"/>
          </a:p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9436"/>
                </a:solidFill>
                <a:latin typeface="Calibri"/>
              </a:defRPr>
            </a:pPr>
            <a:r>
              <a:rPr dirty="0"/>
              <a:t>Generation -- RAGAS (Full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Faithfulness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0.829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Answer Relevancy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0.692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Answer Correctness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0.513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Context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0.682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B0"/>
                </a:solidFill>
                <a:latin typeface="Calibri"/>
              </a:defRPr>
            </a:pPr>
            <a:r>
              <a:t>Context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0.811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9436"/>
                </a:solidFill>
                <a:latin typeface="Calibri"/>
              </a:defRPr>
            </a:pPr>
            <a:r>
              <a:t>Routing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Agent Selection:  8/8 (100%)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League Detection:  8/8 (100%)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9436"/>
                </a:solidFill>
                <a:latin typeface="Calibri"/>
              </a:defRPr>
            </a:pPr>
            <a:r>
              <a:t>Configs Benchmarked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7490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Calibri"/>
              </a:defRPr>
            </a:pPr>
            <a:r>
              <a:t>16 retrieval configurations</a:t>
            </a:r>
            <a:br/>
            <a:r>
              <a:t>(4 collections x 4 pipelines)</a:t>
            </a:r>
            <a:br/>
            <a:br/>
            <a:r>
              <a:t>2 embedding models</a:t>
            </a:r>
            <a:br/>
            <a:r>
              <a:t>(mpnet vs bge-m3)</a:t>
            </a:r>
            <a:br/>
            <a:br/>
            <a:r>
              <a:t>2 chunking strategies</a:t>
            </a:r>
            <a:br/>
            <a:r>
              <a:t>(markdown vs recursive)</a:t>
            </a:r>
            <a:br/>
            <a:br/>
            <a:r>
              <a:t>2 routing modes</a:t>
            </a:r>
            <a:br/>
            <a:r>
              <a:t>(rag-only vs full)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2560320"/>
            <a:ext cx="667512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B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0"/>
            <a:ext cx="6675120" cy="45720"/>
          </a:xfrm>
          <a:prstGeom prst="rect">
            <a:avLst/>
          </a:prstGeom>
          <a:solidFill>
            <a:srgbClr val="0F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871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 Cham (El)</cp:lastModifiedBy>
  <cp:revision>3</cp:revision>
  <dcterms:created xsi:type="dcterms:W3CDTF">2013-01-27T09:14:16Z</dcterms:created>
  <dcterms:modified xsi:type="dcterms:W3CDTF">2026-08-21T09:46:13Z</dcterms:modified>
  <cp:category/>
</cp:coreProperties>
</file>